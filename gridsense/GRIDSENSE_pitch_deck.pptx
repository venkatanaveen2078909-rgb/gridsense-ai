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5A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GRIDSENSE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881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It's sunny.
</a:t>
            </a:r>
            <a:pPr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Your inverter is </a:t>
            </a:r>
            <a:pPr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4A8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silently dead.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affordable AI triage layer that catches silent renewable-energy losses — and tells a lean O&amp;M team exactly what to do.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5120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~90%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56235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readings filtered by cheap rules,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06240" y="5120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C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 / kWh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206240" y="56235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priced in money,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jargon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5120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5–20 MW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0" y="56235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plant an industry reviewer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pilot today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37C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hello@ayusystems.com   ·   www.ayusystems.com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45B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Silent underperformance, not blackouts,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is where the money leaks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plant going dark gets noticed in minutes. The losses that actually hurt are invisible: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3127248"/>
            <a:ext cx="109728" cy="109728"/>
          </a:xfrm>
          <a:prstGeom prst="ellipse">
            <a:avLst/>
          </a:prstGeom>
          <a:solidFill>
            <a:srgbClr val="F4A83A"/>
          </a:solidFill>
          <a:ln w="12700">
            <a:solidFill>
              <a:srgbClr val="F4A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96265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Inverter making 30% less than its neighbours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3694176"/>
            <a:ext cx="109728" cy="109728"/>
          </a:xfrm>
          <a:prstGeom prst="ellipse">
            <a:avLst/>
          </a:prstGeom>
          <a:solidFill>
            <a:srgbClr val="F4A83A"/>
          </a:solidFill>
          <a:ln w="12700">
            <a:solidFill>
              <a:srgbClr val="F4A8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52958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Blown string fuse — inverter still runs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4261104"/>
            <a:ext cx="109728" cy="109728"/>
          </a:xfrm>
          <a:prstGeom prst="ellipse">
            <a:avLst/>
          </a:prstGeom>
          <a:solidFill>
            <a:srgbClr val="F4A83A"/>
          </a:solidFill>
          <a:ln w="12700">
            <a:solidFill>
              <a:srgbClr val="F4A8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09651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tracker, soiled modules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4828032"/>
            <a:ext cx="109728" cy="109728"/>
          </a:xfrm>
          <a:prstGeom prst="ellipse">
            <a:avLst/>
          </a:prstGeom>
          <a:solidFill>
            <a:srgbClr val="F4A83A"/>
          </a:solidFill>
          <a:ln w="12700">
            <a:solidFill>
              <a:srgbClr val="F4A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663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Miscalibrated irradiance sensor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5394960"/>
            <a:ext cx="109728" cy="109728"/>
          </a:xfrm>
          <a:prstGeom prst="ellipse">
            <a:avLst/>
          </a:prstGeom>
          <a:solidFill>
            <a:srgbClr val="F4A83A"/>
          </a:solidFill>
          <a:ln w="12700">
            <a:solidFill>
              <a:srgbClr val="F4A8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523036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notices until revenue falls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92240" y="1965960"/>
            <a:ext cx="5029200" cy="4114800"/>
          </a:xfrm>
          <a:prstGeom prst="roundRect">
            <a:avLst>
              <a:gd name="adj" fmla="val 2000"/>
            </a:avLst>
          </a:prstGeom>
          <a:solidFill>
            <a:srgbClr val="131C2A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PERFECT DAY · TWO HIDDEN FAULTS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Sunlight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52560" y="26700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C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815 W/m²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378440" y="2715768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66560" y="3246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peers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052560" y="321868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C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~540 kW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378440" y="3264408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INV-01/03/05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66560" y="3794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INV-02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52560" y="376732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5B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kW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378440" y="3813048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tripped · loud fault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66560" y="4343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052560" y="43159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390 kW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378440" y="4361688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–30% · silent leak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66560" y="4892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Perf. ratio (INV-04)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052560" y="486460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378440" y="4910328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below par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66560" y="5440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noticed?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052560" y="54132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5B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nobody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378440" y="5458968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revenue fell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A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GRIDSENSE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45B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 silent hour is generation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 can never recover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0881360" cy="1554480"/>
          </a:xfrm>
          <a:prstGeom prst="roundRect">
            <a:avLst>
              <a:gd name="adj" fmla="val 5294"/>
            </a:avLst>
          </a:prstGeom>
          <a:solidFill>
            <a:srgbClr val="1A1420"/>
          </a:solidFill>
          <a:ln w="12700">
            <a:solidFill>
              <a:srgbClr val="3A22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514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5B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520 kWh  ≈  ₹2,704 lost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05840" y="3246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tripped inverter in a single sunny hour — before anyone notices.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Sunlight missed is gone — it can't be stored and made up later. The tripped inverter is the loud loss. The quiet 30% laggard leaks smaller amounts, but runs for weeks unnoticed — often the bigger total.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521208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131C2A"/>
          </a:solidFill>
          <a:ln w="12700">
            <a:solidFill>
              <a:srgbClr val="37C8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349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37C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55961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to catch every fault already exists in the telemetry. There's just no affordable layer that reads it all and hands a lean team a costed next step.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A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GRIDSENSE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7C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 brains — and a human who decides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Pointing an AI at all the data is slow, costly, and a black box engineers reject. Pure SCADA alarms beep but don't diagnose. GRIDSENSE sits deliberately between them.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5257800" cy="2286000"/>
          </a:xfrm>
          <a:prstGeom prst="roundRect">
            <a:avLst>
              <a:gd name="adj" fmla="val 3600"/>
            </a:avLst>
          </a:prstGeom>
          <a:solidFill>
            <a:srgbClr val="131C2A"/>
          </a:solidFill>
          <a:ln w="12700">
            <a:solidFill>
              <a:srgbClr val="37C8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063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37C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1 · THE FAST FILTER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Explainable rules (RPA)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deterministic checks — including performance ratio and peer comparison — read every reading and escalate only real deviations. No AI, fully auditable.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7548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~90% of readings · ₹0 AI cost · every alert traceable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5257800" cy="2286000"/>
          </a:xfrm>
          <a:prstGeom prst="roundRect">
            <a:avLst>
              <a:gd name="adj" fmla="val 3600"/>
            </a:avLst>
          </a:prstGeom>
          <a:solidFill>
            <a:srgbClr val="131C2A"/>
          </a:solidFill>
          <a:ln w="12700">
            <a:solidFill>
              <a:srgbClr val="B98B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3063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B98B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2 · THE EXPERT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3796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 reasoning agent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38404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flagged handful reach the AI. It ranks probable causes, drafts diagnostic-first steps, and prices the loss — the judgement a seasoned engineer applies.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47548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reasons about the &lt;10% that matters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534924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0D141E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48640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4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 is the shape, not the model.  </a:t>
            </a:r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make it cheap and trustworthy; AI makes it smart; a human approves anything consequential. That's a utility control room — finally affordable for an MSME.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A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GRIDSENSE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B98B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CREDIBILITY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 reasons like an operator, not an alarm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veteran solar-operations engineer stress-tested this. We built his top points in — they're what separate GRIDSENSE from a threshold alarm.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AN OPERATOR DOES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120640" y="2788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NAÏVE ALARM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138160" y="2788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C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GRIDSENSE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145536"/>
            <a:ext cx="10698480" cy="0"/>
          </a:xfrm>
          <a:prstGeom prst="line">
            <a:avLst/>
          </a:prstGeom>
          <a:noFill/>
          <a:ln w="12700">
            <a:solidFill>
              <a:srgbClr val="2434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004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an asset to its neighbours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threshold only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38160" y="3200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C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benchmarking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712464"/>
            <a:ext cx="10698480" cy="0"/>
          </a:xfrm>
          <a:prstGeom prst="line">
            <a:avLst/>
          </a:prstGeom>
          <a:noFill/>
          <a:ln w="12700">
            <a:solidFill>
              <a:srgbClr val="2434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673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for how sunny it really 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20640" y="37673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kW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38160" y="37673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C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ratio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279392"/>
            <a:ext cx="10698480" cy="0"/>
          </a:xfrm>
          <a:prstGeom prst="line">
            <a:avLst/>
          </a:prstGeom>
          <a:noFill/>
          <a:ln w="12700">
            <a:solidFill>
              <a:srgbClr val="2434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33425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cry wolf when grid is down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43342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alarms anyway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38160" y="433425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C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conditions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4846320"/>
            <a:ext cx="10698480" cy="0"/>
          </a:xfrm>
          <a:prstGeom prst="line">
            <a:avLst/>
          </a:prstGeom>
          <a:noFill/>
          <a:ln w="12700">
            <a:solidFill>
              <a:srgbClr val="2434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90118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causes, not guess one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20640" y="490118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verdict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38160" y="490118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C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list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5413248"/>
            <a:ext cx="10698480" cy="0"/>
          </a:xfrm>
          <a:prstGeom prst="line">
            <a:avLst/>
          </a:prstGeom>
          <a:noFill/>
          <a:ln w="12700">
            <a:solidFill>
              <a:srgbClr val="2434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46811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cheaply before a truck roll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20640" y="54681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38160" y="546811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C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diagnostic-first steps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silent laggard, INV-04, is caught two ways: </a:t>
            </a:r>
            <a:pPr indent="0" marL="0">
              <a:buNone/>
            </a:pPr>
            <a:r>
              <a:rPr lang="en-US" sz="1450" b="1" dirty="0">
                <a:solidFill>
                  <a:srgbClr val="37C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0.73</a:t>
            </a:r>
            <a:pPr indent="0" marL="0">
              <a:buNone/>
            </a:pPr>
            <a:r>
              <a:rPr lang="en-US" sz="14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450" b="1" dirty="0">
                <a:solidFill>
                  <a:srgbClr val="37C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peer median</a:t>
            </a:r>
            <a:pPr indent="0" marL="0">
              <a:buNone/>
            </a:pPr>
            <a:r>
              <a:rPr lang="en-US" sz="14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leak a fixed threshold never sees.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A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GRIDSENSE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7C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 CUSTOMER GETS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 an alert — a costed, ranked work order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0881360" cy="3977640"/>
          </a:xfrm>
          <a:prstGeom prst="roundRect">
            <a:avLst>
              <a:gd name="adj" fmla="val 2069"/>
            </a:avLst>
          </a:prstGeom>
          <a:solidFill>
            <a:srgbClr val="0D141E"/>
          </a:solidFill>
          <a:ln w="12700">
            <a:solidFill>
              <a:srgbClr val="F45B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377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5B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60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INV-02 (SolarInverter)   ·   </a:t>
            </a:r>
            <a:pPr indent="0" marL="0">
              <a:buNone/>
            </a:pPr>
            <a:r>
              <a:rPr lang="en-US" sz="1600" b="1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RemoteReset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880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PROBABLE CAUSES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3200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Protection trip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31920" y="3255264"/>
            <a:ext cx="2194560" cy="146304"/>
          </a:xfrm>
          <a:prstGeom prst="roundRect">
            <a:avLst>
              <a:gd name="adj" fmla="val 50000"/>
            </a:avLst>
          </a:prstGeom>
          <a:solidFill>
            <a:srgbClr val="F4A83A"/>
          </a:solidFill>
          <a:ln w="12700">
            <a:solidFill>
              <a:srgbClr val="F4A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32004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55.00000000000001%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35844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Communication loss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931920" y="3639312"/>
            <a:ext cx="914400" cy="146304"/>
          </a:xfrm>
          <a:prstGeom prst="roundRect">
            <a:avLst>
              <a:gd name="adj" fmla="val 50000"/>
            </a:avLst>
          </a:prstGeom>
          <a:solidFill>
            <a:srgbClr val="F4A83A"/>
          </a:solidFill>
          <a:ln w="12700">
            <a:solidFill>
              <a:srgbClr val="F4A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358444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96849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outage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31920" y="4023360"/>
            <a:ext cx="731520" cy="146304"/>
          </a:xfrm>
          <a:prstGeom prst="roundRect">
            <a:avLst>
              <a:gd name="adj" fmla="val 50000"/>
            </a:avLst>
          </a:prstGeom>
          <a:solidFill>
            <a:srgbClr val="F4A83A"/>
          </a:solidFill>
          <a:ln w="12700">
            <a:solidFill>
              <a:srgbClr val="F4A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396849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435254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Maintenance mode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931920" y="4407408"/>
            <a:ext cx="548640" cy="146304"/>
          </a:xfrm>
          <a:prstGeom prst="roundRect">
            <a:avLst>
              <a:gd name="adj" fmla="val 50000"/>
            </a:avLst>
          </a:prstGeom>
          <a:solidFill>
            <a:srgbClr val="F4A83A"/>
          </a:solidFill>
          <a:ln w="12700">
            <a:solidFill>
              <a:srgbClr val="F4A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435254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4892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   </a:t>
            </a:r>
            <a:pPr indent="0" marL="0">
              <a:buNone/>
            </a:pPr>
            <a:r>
              <a:rPr lang="en-US" sz="1400" b="1" dirty="0">
                <a:solidFill>
                  <a:srgbClr val="37C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520 kWh ≈ ₹2,704 today</a:t>
            </a:r>
            <a:pPr indent="0" marL="0">
              <a:buNone/>
            </a:pPr>
            <a:r>
              <a:rPr lang="en-US" sz="140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APPROVAL   </a:t>
            </a:r>
            <a:pPr indent="0" marL="0">
              <a:buNone/>
            </a:pPr>
            <a:r>
              <a:rPr lang="en-US" sz="14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53492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   1. Ping over Modbus   →   2. Remote reset   →   3. Check comms   →   4. Only then dispatch crew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ranks causes, prices the loss in rupees, and confirms cheaply before a site visit — the difference between an alarm and an assistant.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A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GRIDSENSE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B98B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TECHNICAL DILIGENCE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clean five-stage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D141E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67128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1671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Ingest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566160" y="219456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→ structured objects. Swaps for a live SCADA/historian feed.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D141E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44368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9443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Detect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66160" y="29718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+ PR + peer rules, then plant guard conditions. RPA, no key.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D141E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21608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72160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Reason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66160" y="37490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anomaly → Claude via forced structured output: ranked causes + steps.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4805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D141E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498848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49884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Approve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566160" y="45262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Asset-touching actions flagged for human sign-off; costed work item built.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D141E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276088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527608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566160" y="53035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persisted with rationale. Becomes CMMS integration.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A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GRIDSENSE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7C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BUSINESS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Who pays, how, and why now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131C2A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37C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PAYS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Small &amp; mid IPPs, C&amp;I rooftop owners, O&amp;M contractors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of 1–50 MW who can't justify enterprise SCADA analytics or a 24/7 desk.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97680" y="219456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131C2A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37C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28346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SaaS, per MW monitored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38404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 monthly fee scaling with capacity — priced well under the generation it recovers.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955280" y="219456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131C2A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37C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NOW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28346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Renewables boom, O&amp;M lags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0" y="38404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solar scales faster than the skilled-operator pool. The gap widens yearly.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on affordability for the underserved small operator; expand up-market into larger fleets and adjacent assets — wind, storage, C&amp;I — as the analytics deepen.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A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GRIDSENSE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4A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STRAIGHT ANSWERS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hard questions, answered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257800" cy="1737360"/>
          </a:xfrm>
          <a:prstGeom prst="roundRect">
            <a:avLst>
              <a:gd name="adj" fmla="val 4737"/>
            </a:avLst>
          </a:prstGeom>
          <a:solidFill>
            <a:srgbClr val="131C2A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8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245059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Real data or just samples?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samples today; detector logic is standard physics that transfers. Ingest swaps for a live feed — validating on real fault-labelled data is the pilot's first task.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2194560"/>
            <a:ext cx="5257800" cy="1737360"/>
          </a:xfrm>
          <a:prstGeom prst="roundRect">
            <a:avLst>
              <a:gd name="adj" fmla="val 4737"/>
            </a:avLst>
          </a:prstGeom>
          <a:solidFill>
            <a:srgbClr val="131C2A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8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12280" y="245059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stops a SCADA incumbent?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30632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sell to large utilities and price for it. The small-operator segment is unattractive to their cost base. We're purpose-built lean and MSME-priced.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5257800" cy="1737360"/>
          </a:xfrm>
          <a:prstGeom prst="roundRect">
            <a:avLst>
              <a:gd name="adj" fmla="val 4737"/>
            </a:avLst>
          </a:prstGeom>
          <a:solidFill>
            <a:srgbClr val="131C2A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389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8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441655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Isn't this just an LLM wrapper?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50292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The AI never sees raw telemetry — auditable rules do detection. Remove the LLM and a working alarm engine remains; the AI adds judgement, not the core.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4160520"/>
            <a:ext cx="5257800" cy="1737360"/>
          </a:xfrm>
          <a:prstGeom prst="roundRect">
            <a:avLst>
              <a:gd name="adj" fmla="val 4737"/>
            </a:avLst>
          </a:prstGeom>
          <a:solidFill>
            <a:srgbClr val="131C2A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4389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8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12280" y="441655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do you handle false positives?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50292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+ peer comparison over blunt thresholds, guard conditions that suppress explained losses, and probabilistic causes. Weather normalisation is next.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A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GRIDSENSE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4A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ME IT'S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Tested code, not a slide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29000" cy="1737360"/>
          </a:xfrm>
          <a:prstGeom prst="roundRect">
            <a:avLst>
              <a:gd name="adj" fmla="val 4737"/>
            </a:avLst>
          </a:prstGeom>
          <a:solidFill>
            <a:srgbClr val="131C2A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6060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A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23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34290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2286000"/>
            <a:ext cx="3429000" cy="1737360"/>
          </a:xfrm>
          <a:prstGeom prst="roundRect">
            <a:avLst>
              <a:gd name="adj" fmla="val 4737"/>
            </a:avLst>
          </a:prstGeom>
          <a:solidFill>
            <a:srgbClr val="131C2A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6060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A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0" y="34290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needed for demo mode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55280" y="2286000"/>
            <a:ext cx="3429000" cy="1737360"/>
          </a:xfrm>
          <a:prstGeom prst="roundRect">
            <a:avLst>
              <a:gd name="adj" fmla="val 4737"/>
            </a:avLst>
          </a:prstGeom>
          <a:solidFill>
            <a:srgbClr val="131C2A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26060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A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2-way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29600" y="34290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of the silent laggard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0D141E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480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C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run.py --scan samples/plant_telemetry.csv     # rule engine, no key, works offline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846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run.py --run  samples/plant_telemetry.csv     # full AI triage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40680"/>
            <a:ext cx="10881360" cy="822960"/>
          </a:xfrm>
          <a:prstGeom prst="roundRect">
            <a:avLst>
              <a:gd name="adj" fmla="val 10000"/>
            </a:avLst>
          </a:prstGeom>
          <a:solidFill>
            <a:srgbClr val="131C2A"/>
          </a:solidFill>
          <a:ln w="12700">
            <a:solidFill>
              <a:srgbClr val="F4A8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4A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HONEST SCOPE 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of the triage core, not a finished SCADA platform. The ingest layer swaps directly for a live feed — that short path to pilot is what the funding builds.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A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GRIDSENSE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B98B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 RIGOUR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Tested and security-reviewed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349240" cy="3977640"/>
          </a:xfrm>
          <a:prstGeom prst="roundRect">
            <a:avLst>
              <a:gd name="adj" fmla="val 2069"/>
            </a:avLst>
          </a:prstGeom>
          <a:solidFill>
            <a:srgbClr val="131C2A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77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7C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23 automated tests, two suites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C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326440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— every detector, PR, peer, financial impact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9044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C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3922776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&amp; robustness — malformed input, edge cases, invariants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56285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C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4581144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&amp; guard suppression enforced as tested invariants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522122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C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5239512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no-key demo mode runs the rule engine offline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2148840"/>
            <a:ext cx="5440680" cy="3977640"/>
          </a:xfrm>
          <a:prstGeom prst="roundRect">
            <a:avLst>
              <a:gd name="adj" fmla="val 2069"/>
            </a:avLst>
          </a:prstGeom>
          <a:solidFill>
            <a:srgbClr val="131C2A"/>
          </a:solidFill>
          <a:ln w="12700">
            <a:solidFill>
              <a:srgbClr val="2434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377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4A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REVIEW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2697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Clean for its stage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55080" y="32461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C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0" y="326440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static-analysis findings (Bandit, 583 LOC)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55080" y="38130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C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3831336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dependency vulnerabilities (pip-audit)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55080" y="437997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C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0" y="4398264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secrets — key only from environment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55080" y="494690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0" y="4965192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bug found by our own tests, then fixed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55080" y="551383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0" y="553212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 documents deployment hardening (IEC 62443, RBAC, feed auth)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A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GRIDSENSE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7C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 FUNDING BUILDS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triage core to platform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182880" cy="182880"/>
          </a:xfrm>
          <a:prstGeom prst="ellipse">
            <a:avLst/>
          </a:prstGeom>
          <a:solidFill>
            <a:srgbClr val="37C89B"/>
          </a:solidFill>
          <a:ln w="25400">
            <a:solidFill>
              <a:srgbClr val="37C89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468880"/>
            <a:ext cx="0" cy="804672"/>
          </a:xfrm>
          <a:prstGeom prst="line">
            <a:avLst/>
          </a:prstGeom>
          <a:noFill/>
          <a:ln w="19050">
            <a:solidFill>
              <a:srgbClr val="2434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37C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 · SHIPPED &amp; TESTED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Triage core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2450592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+ PR + peer detection, guard conditions, probabilistic causes, financial impact, human-in-the-loop, audit log — 23 tests, security-reviewed.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3273552"/>
            <a:ext cx="182880" cy="182880"/>
          </a:xfrm>
          <a:prstGeom prst="ellipse">
            <a:avLst/>
          </a:prstGeom>
          <a:solidFill>
            <a:srgbClr val="F4A83A"/>
          </a:solidFill>
          <a:ln w="25400">
            <a:solidFill>
              <a:srgbClr val="F4A8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456432"/>
            <a:ext cx="0" cy="804672"/>
          </a:xfrm>
          <a:prstGeom prst="line">
            <a:avLst/>
          </a:prstGeom>
          <a:noFill/>
          <a:ln w="19050">
            <a:solidFill>
              <a:srgbClr val="2434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1821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4A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PILOT · NEXT STEP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34564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Live data &amp; validation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3438144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SCADA/historian ingestion, weather normalisation, threshold tuning on a 5–20 MW plant, feed authentication.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4261104"/>
            <a:ext cx="182880" cy="182880"/>
          </a:xfrm>
          <a:prstGeom prst="ellipse">
            <a:avLst/>
          </a:prstGeom>
          <a:solidFill>
            <a:srgbClr val="0D141E"/>
          </a:solidFill>
          <a:ln w="25400">
            <a:solidFill>
              <a:srgbClr val="8A9B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443984"/>
            <a:ext cx="0" cy="804672"/>
          </a:xfrm>
          <a:prstGeom prst="line">
            <a:avLst/>
          </a:prstGeom>
          <a:noFill/>
          <a:ln w="19050">
            <a:solidFill>
              <a:srgbClr val="2434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169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 · EXPANSION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44439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Predictive analytics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46320" y="4425696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String-level analysis, degradation trends, unknown-fault detection, RUL, CMMS integration.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" y="5248656"/>
            <a:ext cx="182880" cy="182880"/>
          </a:xfrm>
          <a:prstGeom prst="ellipse">
            <a:avLst/>
          </a:prstGeom>
          <a:solidFill>
            <a:srgbClr val="0D141E"/>
          </a:solidFill>
          <a:ln w="25400">
            <a:solidFill>
              <a:srgbClr val="8A9B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51572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 · ENTERPRISE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543153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Standards &amp; security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46320" y="5413248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61724 / 62443, protocol integrations, role-based access — the utility-scale checklist.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A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GRIDSENSE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400" kern="0" dirty="0">
                <a:solidFill>
                  <a:srgbClr val="5A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GRIDSENSE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alarm management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EAF1F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 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4A8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asset performance.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663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37C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RPA + AI  ·  Human-in-the-loop  ·  Built for renewable-energy MSMEs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30352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industry engineer validated the architecture and would pilot it at 5–20 MW today. We shipped his top feedback, tested it, security-reviewed it, and roadmapped the rest — honestly.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6172200"/>
            <a:ext cx="10881360" cy="0"/>
          </a:xfrm>
          <a:prstGeom prst="line">
            <a:avLst/>
          </a:prstGeom>
          <a:noFill/>
          <a:ln w="12700">
            <a:solidFill>
              <a:srgbClr val="2434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3093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hello@ayusystems.com</a:t>
            </a:r>
            <a:pPr indent="0" marL="0">
              <a:buNone/>
            </a:pPr>
            <a:r>
              <a:rPr lang="en-US" sz="1500" spc="100" kern="0" dirty="0">
                <a:solidFill>
                  <a:srgbClr val="37C8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www.ayusystems.com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2026-07-13T14:22:22Z</dcterms:created>
  <dcterms:modified xsi:type="dcterms:W3CDTF">2026-07-13T14:22:22Z</dcterms:modified>
</cp:coreProperties>
</file>